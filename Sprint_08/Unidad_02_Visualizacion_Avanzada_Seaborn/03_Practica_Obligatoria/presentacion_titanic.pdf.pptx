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59" r:id="rId6"/>
    <p:sldId id="262"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1" d="100"/>
          <a:sy n="51" d="100"/>
        </p:scale>
        <p:origin x="122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A85926-2A22-2E9C-DDC4-DEA7E08F424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F5D84836-0498-DD69-0D8B-EC17C20CC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27E5707-356A-F043-E828-FC71BAB73E72}"/>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20F8D8CD-52D4-7941-F519-E8A67F880B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B91ABFA-4D46-BEB3-41EE-E5D61AC6262F}"/>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677627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2B01F6-4544-296D-8717-64D82B82875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7854C18-621C-0E3A-9F6D-C4079268E44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D6716C3-D552-0426-3620-D0283B11C1EF}"/>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558B9014-56F5-F3F0-61AB-E8EDD9A4375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443184C-8DEC-6C13-C103-33CC5D59BBEA}"/>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292700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BC3006-82A6-A3E1-1B70-6524D133038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69E7077-1C84-31C1-1F7A-1C6123F7D3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EE847D7-EE33-D575-D420-10A6FD94F982}"/>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49E7B8FE-0319-AE07-C19E-3ED4347B94A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3217F8B-19DF-EC4F-2A87-A83F86D1EBC1}"/>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3953060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4D9769-26F0-64ED-E12D-ACA89E7073D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1B6319F-1B02-06D0-A4E6-E9DC6525A1E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1AEBAB15-AE76-8B1F-F041-2A790DE4F8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B5A0976D-6103-8AD8-8055-2139722871EB}"/>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6" name="Marcador de pie de página 5">
            <a:extLst>
              <a:ext uri="{FF2B5EF4-FFF2-40B4-BE49-F238E27FC236}">
                <a16:creationId xmlns:a16="http://schemas.microsoft.com/office/drawing/2014/main" id="{D2C3CEBC-47EB-A721-292A-91C99244781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E6CFA44-B878-0175-7C75-53B208D7CA71}"/>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892949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34F49B-148D-7435-9A5D-D6A222548126}"/>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0B72493-4819-5AA7-CD96-5BB4226B3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5CC3AF1-CE91-44C2-DA6A-36B0454A353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289B2D4-AE7E-7489-7E3E-7ADBBB3BF7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1BC79D6-8E79-765B-4712-E9C84DAB2FE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4607523-4D2B-CCAF-7D58-960CFA7820CB}"/>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8" name="Marcador de pie de página 7">
            <a:extLst>
              <a:ext uri="{FF2B5EF4-FFF2-40B4-BE49-F238E27FC236}">
                <a16:creationId xmlns:a16="http://schemas.microsoft.com/office/drawing/2014/main" id="{A4811572-0AA0-BB65-730B-86542E92E12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746C68D-9657-6C90-4C22-B6EF20FE404F}"/>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3984415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193B2-C093-BC12-1AB4-0D8EA04FF6C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05C79A5D-F32E-70BC-B3B1-E463A1D163F9}"/>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4" name="Marcador de pie de página 3">
            <a:extLst>
              <a:ext uri="{FF2B5EF4-FFF2-40B4-BE49-F238E27FC236}">
                <a16:creationId xmlns:a16="http://schemas.microsoft.com/office/drawing/2014/main" id="{376C34C4-5012-5AC9-2738-7292538A5FA3}"/>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88231D1-2470-BF91-6050-CB37989BA851}"/>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3014209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9F0FEF0-9936-4D71-0929-E7702E3EE3DD}"/>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3" name="Marcador de pie de página 2">
            <a:extLst>
              <a:ext uri="{FF2B5EF4-FFF2-40B4-BE49-F238E27FC236}">
                <a16:creationId xmlns:a16="http://schemas.microsoft.com/office/drawing/2014/main" id="{AA7AB293-273A-61D5-5A73-283775C3E4C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07D142FE-7FF3-9AFC-04FA-A3BFCF197EBA}"/>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2593063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4B115-FAFF-6DCB-68EA-9D3CB91A925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B4A190-E192-2A98-29C8-03F88C6B03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8782B4E-159A-662D-DAEE-6D833BFFB6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C49E55-A37B-0133-01F5-CF2EBDC1D666}"/>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6" name="Marcador de pie de página 5">
            <a:extLst>
              <a:ext uri="{FF2B5EF4-FFF2-40B4-BE49-F238E27FC236}">
                <a16:creationId xmlns:a16="http://schemas.microsoft.com/office/drawing/2014/main" id="{1631B990-2508-F707-2BA1-2D5F4307616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2FA2986-E6E2-812C-19AF-DA0C20225E74}"/>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2455298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CFFEEF-0507-3D04-CA6E-85AE1745314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BFD13FF-FA33-73CF-FA62-74B6FBFD0B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11DA64C-2ECE-3AEE-B946-90FE9B9BF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AC6DCA-FE29-B7DD-F194-CFDB2E020151}"/>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6" name="Marcador de pie de página 5">
            <a:extLst>
              <a:ext uri="{FF2B5EF4-FFF2-40B4-BE49-F238E27FC236}">
                <a16:creationId xmlns:a16="http://schemas.microsoft.com/office/drawing/2014/main" id="{810096C4-DE34-B5C2-B526-BF407F35238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362FC37-326A-70E0-B8EF-C36D3E1AB54B}"/>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4171727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D78DB7-C2D8-5533-A448-042DA7B6D4D8}"/>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C8AB51C-39A0-6A06-5616-E03B2FFB9B5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777E23-74A1-FBFF-1957-9D8214CCBB8F}"/>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3415F2AD-200B-FAAC-176E-AE63B9CF314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1E09E82-A886-EBFF-D844-369BEE946F6D}"/>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287438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D731022-66C5-4AF0-B207-73454DF397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A766E0B-72AC-8E7F-2D01-743B1D5729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8824C2E-1D37-32CE-F1FB-4D6758FC5CDC}"/>
              </a:ext>
            </a:extLst>
          </p:cNvPr>
          <p:cNvSpPr>
            <a:spLocks noGrp="1"/>
          </p:cNvSpPr>
          <p:nvPr>
            <p:ph type="dt" sz="half" idx="10"/>
          </p:nvPr>
        </p:nvSpPr>
        <p:spPr/>
        <p:txBody>
          <a:body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65DA58A0-9F5D-2686-4177-D753412EF6A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0208BB0-97C9-F0D1-BE2D-C4F10328D9DD}"/>
              </a:ext>
            </a:extLst>
          </p:cNvPr>
          <p:cNvSpPr>
            <a:spLocks noGrp="1"/>
          </p:cNvSpPr>
          <p:nvPr>
            <p:ph type="sldNum" sz="quarter" idx="12"/>
          </p:nvPr>
        </p:nvSpPr>
        <p:spPr/>
        <p:txBody>
          <a:bodyPr/>
          <a:lstStyle/>
          <a:p>
            <a:fld id="{EF2010E1-831E-4913-B74A-F1075604C6B8}" type="slidenum">
              <a:rPr lang="es-ES" smtClean="0"/>
              <a:t>‹Nº›</a:t>
            </a:fld>
            <a:endParaRPr lang="es-ES"/>
          </a:p>
        </p:txBody>
      </p:sp>
    </p:spTree>
    <p:extLst>
      <p:ext uri="{BB962C8B-B14F-4D97-AF65-F5344CB8AC3E}">
        <p14:creationId xmlns:p14="http://schemas.microsoft.com/office/powerpoint/2010/main" val="3751170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1B5C9BE-A739-8F91-6091-615E8D1DA1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926FCB9-4100-A4F0-756B-8137CE2373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164C151-CD7C-6DE1-C172-5F2F09287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877B35-11DB-47B7-8EB6-1EAB32AD9DDD}" type="datetimeFigureOut">
              <a:rPr lang="es-ES" smtClean="0"/>
              <a:t>13/02/2026</a:t>
            </a:fld>
            <a:endParaRPr lang="es-ES"/>
          </a:p>
        </p:txBody>
      </p:sp>
      <p:sp>
        <p:nvSpPr>
          <p:cNvPr id="5" name="Marcador de pie de página 4">
            <a:extLst>
              <a:ext uri="{FF2B5EF4-FFF2-40B4-BE49-F238E27FC236}">
                <a16:creationId xmlns:a16="http://schemas.microsoft.com/office/drawing/2014/main" id="{65262989-F341-7D15-EFE3-6CD68F3CA4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590E298A-FA93-9414-9F1E-317497E732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2010E1-831E-4913-B74A-F1075604C6B8}" type="slidenum">
              <a:rPr lang="es-ES" smtClean="0"/>
              <a:t>‹Nº›</a:t>
            </a:fld>
            <a:endParaRPr lang="es-ES"/>
          </a:p>
        </p:txBody>
      </p:sp>
    </p:spTree>
    <p:extLst>
      <p:ext uri="{BB962C8B-B14F-4D97-AF65-F5344CB8AC3E}">
        <p14:creationId xmlns:p14="http://schemas.microsoft.com/office/powerpoint/2010/main" val="2363893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Gráfico, Gráfico circular&#10;&#10;El contenido generado por IA puede ser incorrecto.">
            <a:extLst>
              <a:ext uri="{FF2B5EF4-FFF2-40B4-BE49-F238E27FC236}">
                <a16:creationId xmlns:a16="http://schemas.microsoft.com/office/drawing/2014/main" id="{7D69DFC8-C3B4-D410-BDCC-03653C7C4D82}"/>
              </a:ext>
            </a:extLst>
          </p:cNvPr>
          <p:cNvPicPr>
            <a:picLocks noChangeAspect="1"/>
          </p:cNvPicPr>
          <p:nvPr/>
        </p:nvPicPr>
        <p:blipFill>
          <a:blip r:embed="rId2"/>
          <a:stretch>
            <a:fillRect/>
          </a:stretch>
        </p:blipFill>
        <p:spPr>
          <a:xfrm>
            <a:off x="2550135" y="449409"/>
            <a:ext cx="7259680" cy="5199072"/>
          </a:xfrm>
          <a:prstGeom prst="rect">
            <a:avLst/>
          </a:prstGeom>
        </p:spPr>
      </p:pic>
      <p:sp>
        <p:nvSpPr>
          <p:cNvPr id="6" name="Título 5">
            <a:extLst>
              <a:ext uri="{FF2B5EF4-FFF2-40B4-BE49-F238E27FC236}">
                <a16:creationId xmlns:a16="http://schemas.microsoft.com/office/drawing/2014/main" id="{3581CF9C-E778-8146-1847-D3208E2145E5}"/>
              </a:ext>
            </a:extLst>
          </p:cNvPr>
          <p:cNvSpPr>
            <a:spLocks noGrp="1"/>
          </p:cNvSpPr>
          <p:nvPr>
            <p:ph type="title"/>
          </p:nvPr>
        </p:nvSpPr>
        <p:spPr>
          <a:xfrm>
            <a:off x="167951" y="-213372"/>
            <a:ext cx="12024049" cy="1325563"/>
          </a:xfrm>
        </p:spPr>
        <p:txBody>
          <a:bodyPr>
            <a:normAutofit/>
          </a:bodyPr>
          <a:lstStyle/>
          <a:p>
            <a:r>
              <a:rPr lang="es-ES" sz="4000" dirty="0">
                <a:latin typeface="Aptos Slab Light" panose="020F0502020204030204" pitchFamily="34" charset="0"/>
              </a:rPr>
              <a:t>El </a:t>
            </a:r>
            <a:r>
              <a:rPr lang="es-ES" sz="4000" dirty="0" err="1">
                <a:latin typeface="Aptos Slab Light" panose="020F0502020204030204" pitchFamily="34" charset="0"/>
              </a:rPr>
              <a:t>Titanic</a:t>
            </a:r>
            <a:r>
              <a:rPr lang="es-ES" sz="4000" dirty="0">
                <a:latin typeface="Aptos Slab Light" panose="020F0502020204030204" pitchFamily="34" charset="0"/>
              </a:rPr>
              <a:t> fue un accidente con tasa de mortalidad alta</a:t>
            </a:r>
          </a:p>
        </p:txBody>
      </p:sp>
      <p:sp>
        <p:nvSpPr>
          <p:cNvPr id="8" name="Marcador de contenido 7">
            <a:extLst>
              <a:ext uri="{FF2B5EF4-FFF2-40B4-BE49-F238E27FC236}">
                <a16:creationId xmlns:a16="http://schemas.microsoft.com/office/drawing/2014/main" id="{AA42003A-FA2F-8636-2AAF-E5A62630AA61}"/>
              </a:ext>
            </a:extLst>
          </p:cNvPr>
          <p:cNvSpPr>
            <a:spLocks noGrp="1"/>
          </p:cNvSpPr>
          <p:nvPr>
            <p:ph sz="half" idx="2"/>
          </p:nvPr>
        </p:nvSpPr>
        <p:spPr>
          <a:xfrm>
            <a:off x="493158" y="5260932"/>
            <a:ext cx="11548998" cy="1697277"/>
          </a:xfrm>
        </p:spPr>
        <p:txBody>
          <a:bodyPr>
            <a:normAutofit fontScale="40000" lnSpcReduction="20000"/>
          </a:bodyPr>
          <a:lstStyle/>
          <a:p>
            <a:pPr marL="0" indent="0" algn="just">
              <a:buNone/>
            </a:pPr>
            <a:r>
              <a:rPr lang="es-ES" sz="6000" dirty="0">
                <a:latin typeface="Aptos Slab Light" panose="020B0004020202020204" pitchFamily="34" charset="0"/>
              </a:rPr>
              <a:t>En base a la representación, se confirma un alto porcentaje de mortalidad:</a:t>
            </a:r>
          </a:p>
          <a:p>
            <a:pPr marL="0" indent="0" algn="just">
              <a:buNone/>
            </a:pPr>
            <a:endParaRPr lang="es-ES" sz="6000" dirty="0">
              <a:latin typeface="Aptos Slab Light" panose="020B0004020202020204" pitchFamily="34" charset="0"/>
            </a:endParaRPr>
          </a:p>
          <a:p>
            <a:pPr algn="just">
              <a:buFontTx/>
              <a:buChar char="-"/>
            </a:pPr>
            <a:r>
              <a:rPr lang="es-ES" sz="6000" dirty="0">
                <a:latin typeface="Aptos Slab Light" panose="020B0004020202020204" pitchFamily="34" charset="0"/>
              </a:rPr>
              <a:t>Fallecimiento: 61.62%</a:t>
            </a:r>
          </a:p>
          <a:p>
            <a:pPr algn="just">
              <a:buFontTx/>
              <a:buChar char="-"/>
            </a:pPr>
            <a:r>
              <a:rPr lang="es-ES" sz="6000" dirty="0">
                <a:latin typeface="Aptos Slab Light" panose="020B0004020202020204" pitchFamily="34" charset="0"/>
              </a:rPr>
              <a:t>Supervivencia (yes): 38.38%</a:t>
            </a:r>
          </a:p>
          <a:p>
            <a:pPr>
              <a:buFontTx/>
              <a:buChar char="-"/>
            </a:pPr>
            <a:endParaRPr lang="es-ES" sz="2000" dirty="0">
              <a:latin typeface="Aptos Slab Light" panose="020B0004020202020204" pitchFamily="34" charset="0"/>
            </a:endParaRPr>
          </a:p>
        </p:txBody>
      </p:sp>
    </p:spTree>
    <p:extLst>
      <p:ext uri="{BB962C8B-B14F-4D97-AF65-F5344CB8AC3E}">
        <p14:creationId xmlns:p14="http://schemas.microsoft.com/office/powerpoint/2010/main" val="1907275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7333E-24F4-15A7-9FFB-07F726025257}"/>
            </a:ext>
          </a:extLst>
        </p:cNvPr>
        <p:cNvGrpSpPr/>
        <p:nvPr/>
      </p:nvGrpSpPr>
      <p:grpSpPr>
        <a:xfrm>
          <a:off x="0" y="0"/>
          <a:ext cx="0" cy="0"/>
          <a:chOff x="0" y="0"/>
          <a:chExt cx="0" cy="0"/>
        </a:xfrm>
      </p:grpSpPr>
      <p:pic>
        <p:nvPicPr>
          <p:cNvPr id="4" name="Imagen 3" descr="Gráfico, Gráfico de barras&#10;&#10;El contenido generado por IA puede ser incorrecto.">
            <a:extLst>
              <a:ext uri="{FF2B5EF4-FFF2-40B4-BE49-F238E27FC236}">
                <a16:creationId xmlns:a16="http://schemas.microsoft.com/office/drawing/2014/main" id="{0BEDFAE9-8007-FAFA-B420-33E383E23E81}"/>
              </a:ext>
            </a:extLst>
          </p:cNvPr>
          <p:cNvPicPr>
            <a:picLocks noChangeAspect="1"/>
          </p:cNvPicPr>
          <p:nvPr/>
        </p:nvPicPr>
        <p:blipFill>
          <a:blip r:embed="rId2"/>
          <a:stretch>
            <a:fillRect/>
          </a:stretch>
        </p:blipFill>
        <p:spPr>
          <a:xfrm>
            <a:off x="73090" y="597856"/>
            <a:ext cx="7527694" cy="6260144"/>
          </a:xfrm>
          <a:prstGeom prst="rect">
            <a:avLst/>
          </a:prstGeom>
        </p:spPr>
      </p:pic>
      <p:sp>
        <p:nvSpPr>
          <p:cNvPr id="6" name="Título 5">
            <a:extLst>
              <a:ext uri="{FF2B5EF4-FFF2-40B4-BE49-F238E27FC236}">
                <a16:creationId xmlns:a16="http://schemas.microsoft.com/office/drawing/2014/main" id="{4037372E-98F7-34BF-3566-E4219BFDC718}"/>
              </a:ext>
            </a:extLst>
          </p:cNvPr>
          <p:cNvSpPr>
            <a:spLocks noGrp="1"/>
          </p:cNvSpPr>
          <p:nvPr>
            <p:ph type="title"/>
          </p:nvPr>
        </p:nvSpPr>
        <p:spPr>
          <a:xfrm>
            <a:off x="73090" y="-210359"/>
            <a:ext cx="10515600" cy="1325563"/>
          </a:xfrm>
        </p:spPr>
        <p:txBody>
          <a:bodyPr>
            <a:normAutofit/>
          </a:bodyPr>
          <a:lstStyle/>
          <a:p>
            <a:r>
              <a:rPr lang="es-ES" sz="4000" dirty="0">
                <a:latin typeface="Aptos Slab Light" panose="020B0004020202020204" pitchFamily="34" charset="0"/>
              </a:rPr>
              <a:t>Mortalidad general</a:t>
            </a:r>
          </a:p>
        </p:txBody>
      </p:sp>
      <p:sp>
        <p:nvSpPr>
          <p:cNvPr id="8" name="Marcador de contenido 7">
            <a:extLst>
              <a:ext uri="{FF2B5EF4-FFF2-40B4-BE49-F238E27FC236}">
                <a16:creationId xmlns:a16="http://schemas.microsoft.com/office/drawing/2014/main" id="{418C5FE0-B4FC-19AE-075C-1A79A33097B5}"/>
              </a:ext>
            </a:extLst>
          </p:cNvPr>
          <p:cNvSpPr>
            <a:spLocks noGrp="1"/>
          </p:cNvSpPr>
          <p:nvPr>
            <p:ph sz="half" idx="2"/>
          </p:nvPr>
        </p:nvSpPr>
        <p:spPr>
          <a:xfrm>
            <a:off x="7866345" y="1963648"/>
            <a:ext cx="4214987" cy="3810851"/>
          </a:xfrm>
        </p:spPr>
        <p:txBody>
          <a:bodyPr>
            <a:normAutofit lnSpcReduction="10000"/>
          </a:bodyPr>
          <a:lstStyle/>
          <a:p>
            <a:pPr marL="0" indent="0" algn="ctr">
              <a:buNone/>
            </a:pPr>
            <a:r>
              <a:rPr lang="es-ES" sz="2400" dirty="0">
                <a:latin typeface="Aptos Slab Light" panose="020B0004020202020204" pitchFamily="34" charset="0"/>
              </a:rPr>
              <a:t>Según la frase de “mujeres y niños primero”, se presupone mayor supervivencia de estos individuos.</a:t>
            </a:r>
          </a:p>
          <a:p>
            <a:pPr marL="0" indent="0" algn="ctr">
              <a:buNone/>
            </a:pPr>
            <a:r>
              <a:rPr lang="es-ES" sz="2400" dirty="0">
                <a:latin typeface="Aptos Slab Light" panose="020B0004020202020204" pitchFamily="34" charset="0"/>
              </a:rPr>
              <a:t> </a:t>
            </a:r>
          </a:p>
          <a:p>
            <a:pPr marL="0" indent="0" algn="ctr">
              <a:buNone/>
            </a:pPr>
            <a:r>
              <a:rPr lang="es-ES" sz="2400" dirty="0">
                <a:latin typeface="Aptos Slab Light" panose="020B0004020202020204" pitchFamily="34" charset="0"/>
              </a:rPr>
              <a:t>Según el gráfico (tras test estadístico), se confirma que los hombres presentan una tasa de mortalidad que supera de manera aplastante a mujeres y niños</a:t>
            </a:r>
            <a:r>
              <a:rPr lang="es-ES" sz="2000" dirty="0">
                <a:latin typeface="Aptos Slab Light" panose="020B0004020202020204" pitchFamily="34" charset="0"/>
              </a:rPr>
              <a:t>.</a:t>
            </a:r>
          </a:p>
          <a:p>
            <a:pPr marL="0" indent="0" algn="ctr">
              <a:buNone/>
            </a:pPr>
            <a:endParaRPr lang="es-ES" sz="3200" dirty="0">
              <a:latin typeface="Aptos Slab Light" panose="020B0004020202020204" pitchFamily="34" charset="0"/>
            </a:endParaRPr>
          </a:p>
          <a:p>
            <a:pPr marL="0" indent="0" algn="ctr">
              <a:buNone/>
            </a:pPr>
            <a:endParaRPr lang="es-ES" sz="3200" dirty="0">
              <a:latin typeface="Aptos Slab Light" panose="020B0004020202020204" pitchFamily="34" charset="0"/>
            </a:endParaRPr>
          </a:p>
          <a:p>
            <a:pPr marL="0" indent="0" algn="ctr">
              <a:buNone/>
            </a:pPr>
            <a:endParaRPr lang="es-ES" sz="3200" dirty="0">
              <a:latin typeface="Aptos Slab Light" panose="020B0004020202020204" pitchFamily="34" charset="0"/>
            </a:endParaRPr>
          </a:p>
        </p:txBody>
      </p:sp>
    </p:spTree>
    <p:extLst>
      <p:ext uri="{BB962C8B-B14F-4D97-AF65-F5344CB8AC3E}">
        <p14:creationId xmlns:p14="http://schemas.microsoft.com/office/powerpoint/2010/main" val="911739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uadroTexto 12">
            <a:extLst>
              <a:ext uri="{FF2B5EF4-FFF2-40B4-BE49-F238E27FC236}">
                <a16:creationId xmlns:a16="http://schemas.microsoft.com/office/drawing/2014/main" id="{33D479A3-C7C3-2C5A-A896-210E6593D6EF}"/>
              </a:ext>
            </a:extLst>
          </p:cNvPr>
          <p:cNvSpPr txBox="1"/>
          <p:nvPr/>
        </p:nvSpPr>
        <p:spPr>
          <a:xfrm>
            <a:off x="177451" y="4572000"/>
            <a:ext cx="11837096" cy="2308324"/>
          </a:xfrm>
          <a:prstGeom prst="rect">
            <a:avLst/>
          </a:prstGeom>
          <a:noFill/>
        </p:spPr>
        <p:txBody>
          <a:bodyPr wrap="square" rtlCol="0">
            <a:spAutoFit/>
          </a:bodyPr>
          <a:lstStyle/>
          <a:p>
            <a:pPr algn="just"/>
            <a:r>
              <a:rPr lang="es-ES" dirty="0">
                <a:latin typeface="Aptos Light" panose="020B0004020202020204" pitchFamily="34" charset="0"/>
              </a:rPr>
              <a:t>Según el gráfico (mujeres y niños supervivientes o no según su clase), se aprecia que la clase también influye en la supervivencia de niños y mujeres de primera clase frente a tercera.</a:t>
            </a:r>
          </a:p>
          <a:p>
            <a:pPr algn="just"/>
            <a:endParaRPr lang="es-ES" dirty="0">
              <a:latin typeface="Aptos Light" panose="020B0004020202020204" pitchFamily="34" charset="0"/>
            </a:endParaRPr>
          </a:p>
          <a:p>
            <a:pPr marL="285750" indent="-285750" algn="just">
              <a:buFontTx/>
              <a:buChar char="-"/>
            </a:pPr>
            <a:r>
              <a:rPr lang="es-ES" dirty="0">
                <a:latin typeface="Aptos Light" panose="020B0004020202020204" pitchFamily="34" charset="0"/>
              </a:rPr>
              <a:t>Sólo fallecieron 2 mujeres y 1 niño de primera clase</a:t>
            </a:r>
          </a:p>
          <a:p>
            <a:pPr marL="285750" indent="-285750" algn="just">
              <a:buFontTx/>
              <a:buChar char="-"/>
            </a:pPr>
            <a:r>
              <a:rPr lang="es-ES" dirty="0">
                <a:latin typeface="Aptos Light" panose="020B0004020202020204" pitchFamily="34" charset="0"/>
              </a:rPr>
              <a:t>Fallecieron 114 mujeres y 58 niños de tercera clase</a:t>
            </a:r>
          </a:p>
          <a:p>
            <a:pPr marL="285750" indent="-285750" algn="just">
              <a:buFontTx/>
              <a:buChar char="-"/>
            </a:pPr>
            <a:endParaRPr lang="es-ES" dirty="0">
              <a:latin typeface="Aptos Light" panose="020B0004020202020204" pitchFamily="34" charset="0"/>
            </a:endParaRPr>
          </a:p>
          <a:p>
            <a:pPr algn="just"/>
            <a:r>
              <a:rPr lang="es-ES" dirty="0">
                <a:latin typeface="Aptos Light" panose="020B0004020202020204" pitchFamily="34" charset="0"/>
              </a:rPr>
              <a:t>Dado el resultado del análisis, además se relaciona el poder socioeconómico con la mortalidad o supervivencia de los pasajeros.</a:t>
            </a:r>
          </a:p>
        </p:txBody>
      </p:sp>
      <p:sp>
        <p:nvSpPr>
          <p:cNvPr id="14" name="Título 5">
            <a:extLst>
              <a:ext uri="{FF2B5EF4-FFF2-40B4-BE49-F238E27FC236}">
                <a16:creationId xmlns:a16="http://schemas.microsoft.com/office/drawing/2014/main" id="{07BDB77D-7ABE-8A96-FE5F-59020CBB72B0}"/>
              </a:ext>
            </a:extLst>
          </p:cNvPr>
          <p:cNvSpPr>
            <a:spLocks noGrp="1"/>
          </p:cNvSpPr>
          <p:nvPr>
            <p:ph type="title"/>
          </p:nvPr>
        </p:nvSpPr>
        <p:spPr>
          <a:xfrm>
            <a:off x="73090" y="-210359"/>
            <a:ext cx="10515600" cy="1325563"/>
          </a:xfrm>
        </p:spPr>
        <p:txBody>
          <a:bodyPr>
            <a:normAutofit/>
          </a:bodyPr>
          <a:lstStyle/>
          <a:p>
            <a:r>
              <a:rPr lang="es-ES" sz="4000" dirty="0">
                <a:latin typeface="Aptos Slab Light" panose="020B0004020202020204" pitchFamily="34" charset="0"/>
              </a:rPr>
              <a:t>Pero, ¿y la mortalidad de mujeres y niños?</a:t>
            </a:r>
          </a:p>
        </p:txBody>
      </p:sp>
      <p:pic>
        <p:nvPicPr>
          <p:cNvPr id="7" name="Marcador de contenido 6" descr="Gráfico, Gráfico de barras&#10;&#10;El contenido generado por IA puede ser incorrecto.">
            <a:extLst>
              <a:ext uri="{FF2B5EF4-FFF2-40B4-BE49-F238E27FC236}">
                <a16:creationId xmlns:a16="http://schemas.microsoft.com/office/drawing/2014/main" id="{B7C0BBF5-F576-F71F-82A9-16C84076725F}"/>
              </a:ext>
            </a:extLst>
          </p:cNvPr>
          <p:cNvPicPr>
            <a:picLocks noGrp="1" noChangeAspect="1"/>
          </p:cNvPicPr>
          <p:nvPr>
            <p:ph sz="half" idx="2"/>
          </p:nvPr>
        </p:nvPicPr>
        <p:blipFill>
          <a:blip r:embed="rId2"/>
          <a:stretch>
            <a:fillRect/>
          </a:stretch>
        </p:blipFill>
        <p:spPr>
          <a:xfrm>
            <a:off x="-32611" y="798746"/>
            <a:ext cx="12257221" cy="3773254"/>
          </a:xfrm>
          <a:prstGeom prst="rect">
            <a:avLst/>
          </a:prstGeom>
        </p:spPr>
      </p:pic>
    </p:spTree>
    <p:extLst>
      <p:ext uri="{BB962C8B-B14F-4D97-AF65-F5344CB8AC3E}">
        <p14:creationId xmlns:p14="http://schemas.microsoft.com/office/powerpoint/2010/main" val="1972714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C7266-9763-9A14-50A3-3256456CE6DC}"/>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405D182C-DC83-1D0C-B090-6A08027DD988}"/>
              </a:ext>
            </a:extLst>
          </p:cNvPr>
          <p:cNvSpPr>
            <a:spLocks noGrp="1"/>
          </p:cNvSpPr>
          <p:nvPr>
            <p:ph type="title"/>
          </p:nvPr>
        </p:nvSpPr>
        <p:spPr>
          <a:xfrm>
            <a:off x="91751" y="-250695"/>
            <a:ext cx="10515600" cy="1325563"/>
          </a:xfrm>
        </p:spPr>
        <p:txBody>
          <a:bodyPr>
            <a:normAutofit/>
          </a:bodyPr>
          <a:lstStyle/>
          <a:p>
            <a:r>
              <a:rPr lang="es-ES" sz="4000" dirty="0">
                <a:latin typeface="Aptos Slab Light" panose="020B0004020202020204" pitchFamily="34" charset="0"/>
              </a:rPr>
              <a:t>Clase de los pasajeros</a:t>
            </a:r>
          </a:p>
        </p:txBody>
      </p:sp>
      <p:sp>
        <p:nvSpPr>
          <p:cNvPr id="7" name="Marcador de contenido 6">
            <a:extLst>
              <a:ext uri="{FF2B5EF4-FFF2-40B4-BE49-F238E27FC236}">
                <a16:creationId xmlns:a16="http://schemas.microsoft.com/office/drawing/2014/main" id="{748C6B79-44A1-06CE-E1AD-3C94CF7B900A}"/>
              </a:ext>
            </a:extLst>
          </p:cNvPr>
          <p:cNvSpPr>
            <a:spLocks noGrp="1"/>
          </p:cNvSpPr>
          <p:nvPr>
            <p:ph sz="half" idx="1"/>
          </p:nvPr>
        </p:nvSpPr>
        <p:spPr>
          <a:xfrm>
            <a:off x="249594" y="4487892"/>
            <a:ext cx="11692812" cy="2370108"/>
          </a:xfrm>
        </p:spPr>
        <p:txBody>
          <a:bodyPr>
            <a:normAutofit fontScale="62500" lnSpcReduction="20000"/>
          </a:bodyPr>
          <a:lstStyle/>
          <a:p>
            <a:pPr marL="0" indent="0" algn="just">
              <a:buNone/>
            </a:pPr>
            <a:r>
              <a:rPr lang="es-ES" dirty="0">
                <a:latin typeface="Aptos Light" panose="020B0004020202020204" pitchFamily="34" charset="0"/>
              </a:rPr>
              <a:t>Existe una fuerte relación entre la supervivencia y la clase. </a:t>
            </a:r>
          </a:p>
          <a:p>
            <a:pPr marL="0" indent="0" algn="just">
              <a:buNone/>
            </a:pPr>
            <a:endParaRPr lang="es-ES" dirty="0">
              <a:latin typeface="Aptos Light" panose="020B0004020202020204" pitchFamily="34" charset="0"/>
            </a:endParaRPr>
          </a:p>
          <a:p>
            <a:pPr algn="just">
              <a:buFontTx/>
              <a:buChar char="-"/>
            </a:pPr>
            <a:r>
              <a:rPr lang="es-ES" dirty="0">
                <a:latin typeface="Aptos Light" panose="020B0004020202020204" pitchFamily="34" charset="0"/>
              </a:rPr>
              <a:t>Mayor número de fallecidos: Tercera clase</a:t>
            </a:r>
          </a:p>
          <a:p>
            <a:pPr algn="just">
              <a:buFontTx/>
              <a:buChar char="-"/>
            </a:pPr>
            <a:r>
              <a:rPr lang="es-ES" dirty="0">
                <a:latin typeface="Aptos Light" panose="020B0004020202020204" pitchFamily="34" charset="0"/>
              </a:rPr>
              <a:t>Menor número de fallecidos: Primera clase. </a:t>
            </a:r>
          </a:p>
          <a:p>
            <a:pPr marL="0" indent="0" algn="just">
              <a:buNone/>
            </a:pPr>
            <a:endParaRPr lang="es-ES" dirty="0">
              <a:latin typeface="Aptos Light" panose="020B0004020202020204" pitchFamily="34" charset="0"/>
            </a:endParaRPr>
          </a:p>
          <a:p>
            <a:pPr marL="0" indent="0" algn="just">
              <a:buNone/>
            </a:pPr>
            <a:r>
              <a:rPr lang="es-ES" dirty="0">
                <a:latin typeface="Aptos Light" panose="020B0004020202020204" pitchFamily="34" charset="0"/>
              </a:rPr>
              <a:t>Debido al nivel socioeconómico, los pasajeros de primera clase ocupaban los camarotes más altos (aumentando la probabilidad de supervivencia). Los pasajeros de tercera clase, ocupaban los camarotes más bajos del barco, favoreciendo la probabilidad de fallecimiento</a:t>
            </a:r>
          </a:p>
          <a:p>
            <a:endParaRPr lang="es-ES" dirty="0"/>
          </a:p>
        </p:txBody>
      </p:sp>
      <p:pic>
        <p:nvPicPr>
          <p:cNvPr id="12" name="Marcador de contenido 11" descr="Gráfico, Gráfico de barras&#10;&#10;El contenido generado por IA puede ser incorrecto.">
            <a:extLst>
              <a:ext uri="{FF2B5EF4-FFF2-40B4-BE49-F238E27FC236}">
                <a16:creationId xmlns:a16="http://schemas.microsoft.com/office/drawing/2014/main" id="{52E34EED-1A51-9B73-D158-FD014AB92AFD}"/>
              </a:ext>
            </a:extLst>
          </p:cNvPr>
          <p:cNvPicPr>
            <a:picLocks noGrp="1" noChangeAspect="1"/>
          </p:cNvPicPr>
          <p:nvPr>
            <p:ph sz="half" idx="2"/>
          </p:nvPr>
        </p:nvPicPr>
        <p:blipFill>
          <a:blip r:embed="rId2"/>
          <a:stretch>
            <a:fillRect/>
          </a:stretch>
        </p:blipFill>
        <p:spPr>
          <a:xfrm>
            <a:off x="407438" y="789140"/>
            <a:ext cx="11692811" cy="3599506"/>
          </a:xfrm>
          <a:prstGeom prst="rect">
            <a:avLst/>
          </a:prstGeom>
        </p:spPr>
      </p:pic>
    </p:spTree>
    <p:extLst>
      <p:ext uri="{BB962C8B-B14F-4D97-AF65-F5344CB8AC3E}">
        <p14:creationId xmlns:p14="http://schemas.microsoft.com/office/powerpoint/2010/main" val="3903333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BC043-0B77-D6D4-CCB4-8DAC9D4E7883}"/>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65023F00-BB76-11A0-77C7-084C67C7B5E8}"/>
              </a:ext>
            </a:extLst>
          </p:cNvPr>
          <p:cNvSpPr>
            <a:spLocks noGrp="1"/>
          </p:cNvSpPr>
          <p:nvPr>
            <p:ph type="title"/>
          </p:nvPr>
        </p:nvSpPr>
        <p:spPr>
          <a:xfrm>
            <a:off x="99164" y="-211072"/>
            <a:ext cx="10515600" cy="1325563"/>
          </a:xfrm>
        </p:spPr>
        <p:txBody>
          <a:bodyPr/>
          <a:lstStyle/>
          <a:p>
            <a:r>
              <a:rPr lang="es-ES" dirty="0">
                <a:latin typeface="Aptos Slab Light" panose="020B0004020202020204" pitchFamily="34" charset="0"/>
              </a:rPr>
              <a:t>Mortalidad y ciudad de embarque</a:t>
            </a:r>
          </a:p>
        </p:txBody>
      </p:sp>
      <p:sp>
        <p:nvSpPr>
          <p:cNvPr id="8" name="Marcador de contenido 7">
            <a:extLst>
              <a:ext uri="{FF2B5EF4-FFF2-40B4-BE49-F238E27FC236}">
                <a16:creationId xmlns:a16="http://schemas.microsoft.com/office/drawing/2014/main" id="{BB909419-2061-15A1-BEC8-810EEA7B7290}"/>
              </a:ext>
            </a:extLst>
          </p:cNvPr>
          <p:cNvSpPr>
            <a:spLocks noGrp="1"/>
          </p:cNvSpPr>
          <p:nvPr>
            <p:ph sz="half" idx="2"/>
          </p:nvPr>
        </p:nvSpPr>
        <p:spPr>
          <a:xfrm>
            <a:off x="359078" y="5338478"/>
            <a:ext cx="11473841" cy="1126444"/>
          </a:xfrm>
        </p:spPr>
        <p:txBody>
          <a:bodyPr>
            <a:normAutofit/>
          </a:bodyPr>
          <a:lstStyle/>
          <a:p>
            <a:pPr marL="0" indent="0" algn="just">
              <a:buNone/>
            </a:pPr>
            <a:r>
              <a:rPr lang="es-ES" dirty="0">
                <a:latin typeface="Aptos Slab Light" panose="020B0004020202020204" pitchFamily="34" charset="0"/>
              </a:rPr>
              <a:t>Según el gráfico, así como según el test estadístico, se confirma correlación entre la ciudad de embarque con la supervivencia. Pero…</a:t>
            </a:r>
          </a:p>
          <a:p>
            <a:pPr marL="0" indent="0">
              <a:buNone/>
            </a:pPr>
            <a:endParaRPr lang="es-ES" dirty="0">
              <a:latin typeface="Aptos Slab Light" panose="020B0004020202020204" pitchFamily="34" charset="0"/>
            </a:endParaRPr>
          </a:p>
        </p:txBody>
      </p:sp>
      <p:pic>
        <p:nvPicPr>
          <p:cNvPr id="4" name="Imagen 3" descr="Gráfico, Gráfico de barras&#10;&#10;El contenido generado por IA puede ser incorrecto.">
            <a:extLst>
              <a:ext uri="{FF2B5EF4-FFF2-40B4-BE49-F238E27FC236}">
                <a16:creationId xmlns:a16="http://schemas.microsoft.com/office/drawing/2014/main" id="{E6E2E21E-E599-EB73-6EEF-0D0F07EB7A6D}"/>
              </a:ext>
            </a:extLst>
          </p:cNvPr>
          <p:cNvPicPr>
            <a:picLocks noChangeAspect="1"/>
          </p:cNvPicPr>
          <p:nvPr/>
        </p:nvPicPr>
        <p:blipFill>
          <a:blip r:embed="rId2"/>
          <a:stretch>
            <a:fillRect/>
          </a:stretch>
        </p:blipFill>
        <p:spPr>
          <a:xfrm>
            <a:off x="-1" y="1214208"/>
            <a:ext cx="12192000" cy="3753178"/>
          </a:xfrm>
          <a:prstGeom prst="rect">
            <a:avLst/>
          </a:prstGeom>
        </p:spPr>
      </p:pic>
    </p:spTree>
    <p:extLst>
      <p:ext uri="{BB962C8B-B14F-4D97-AF65-F5344CB8AC3E}">
        <p14:creationId xmlns:p14="http://schemas.microsoft.com/office/powerpoint/2010/main" val="1217823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464F-44CF-F417-E358-46EFCDE8CC6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E4928676-CA4A-191F-4EF2-D593366CF5C5}"/>
              </a:ext>
            </a:extLst>
          </p:cNvPr>
          <p:cNvSpPr>
            <a:spLocks noGrp="1"/>
          </p:cNvSpPr>
          <p:nvPr>
            <p:ph type="title"/>
          </p:nvPr>
        </p:nvSpPr>
        <p:spPr>
          <a:xfrm>
            <a:off x="99164" y="-211072"/>
            <a:ext cx="10515600" cy="1325563"/>
          </a:xfrm>
        </p:spPr>
        <p:txBody>
          <a:bodyPr/>
          <a:lstStyle/>
          <a:p>
            <a:r>
              <a:rPr lang="es-ES" dirty="0">
                <a:latin typeface="Aptos Slab Light" panose="020B0004020202020204" pitchFamily="34" charset="0"/>
              </a:rPr>
              <a:t>Mortalidad y ciudad de embarque</a:t>
            </a:r>
          </a:p>
        </p:txBody>
      </p:sp>
      <p:sp>
        <p:nvSpPr>
          <p:cNvPr id="8" name="Marcador de contenido 7">
            <a:extLst>
              <a:ext uri="{FF2B5EF4-FFF2-40B4-BE49-F238E27FC236}">
                <a16:creationId xmlns:a16="http://schemas.microsoft.com/office/drawing/2014/main" id="{738FBD88-707F-1DA6-7C6F-7169A512766E}"/>
              </a:ext>
            </a:extLst>
          </p:cNvPr>
          <p:cNvSpPr>
            <a:spLocks noGrp="1"/>
          </p:cNvSpPr>
          <p:nvPr>
            <p:ph sz="half" idx="2"/>
          </p:nvPr>
        </p:nvSpPr>
        <p:spPr>
          <a:xfrm>
            <a:off x="227033" y="4747364"/>
            <a:ext cx="11737931" cy="2110636"/>
          </a:xfrm>
        </p:spPr>
        <p:txBody>
          <a:bodyPr>
            <a:normAutofit fontScale="77500" lnSpcReduction="20000"/>
          </a:bodyPr>
          <a:lstStyle/>
          <a:p>
            <a:pPr marL="0" indent="0" algn="just">
              <a:buNone/>
            </a:pPr>
            <a:r>
              <a:rPr lang="es-ES" dirty="0">
                <a:latin typeface="Aptos Slab Light" panose="020B0004020202020204" pitchFamily="34" charset="0"/>
              </a:rPr>
              <a:t>Analizando la clase de los pasajeros que embarcaron en cada ciudad, se observa que la mayor parte de los pasajeros que embarcaron en Southampton fueron de tercera clase. </a:t>
            </a:r>
          </a:p>
          <a:p>
            <a:pPr marL="0" indent="0" algn="just">
              <a:buNone/>
            </a:pPr>
            <a:r>
              <a:rPr lang="es-ES" dirty="0">
                <a:latin typeface="Aptos Slab Light" panose="020B0004020202020204" pitchFamily="34" charset="0"/>
              </a:rPr>
              <a:t>Según el contexto histórico, indica que la mayor parte de fallecidos fueron pasajeros de tercera clase, dada su situación en el barco. Estos pasajeros, partían hacia NY en busca de un futuro mejor. </a:t>
            </a:r>
          </a:p>
          <a:p>
            <a:pPr marL="0" indent="0" algn="just">
              <a:buNone/>
            </a:pPr>
            <a:r>
              <a:rPr lang="es-ES" dirty="0">
                <a:latin typeface="Aptos Slab Light" panose="020B0004020202020204" pitchFamily="34" charset="0"/>
              </a:rPr>
              <a:t>Por ello, se puede determinar que la correlación se produce por la clase de pasajeros que embarcaron en cada ciudad, más que por la ciudad en la que embarcaron en sí.</a:t>
            </a:r>
          </a:p>
          <a:p>
            <a:pPr marL="0" indent="0">
              <a:buNone/>
            </a:pPr>
            <a:endParaRPr lang="es-ES" dirty="0">
              <a:latin typeface="Aptos Slab Light" panose="020B0004020202020204" pitchFamily="34" charset="0"/>
            </a:endParaRPr>
          </a:p>
        </p:txBody>
      </p:sp>
      <p:pic>
        <p:nvPicPr>
          <p:cNvPr id="7" name="Marcador de contenido 6" descr="Gráfico, Gráfico de barras&#10;&#10;El contenido generado por IA puede ser incorrecto.">
            <a:extLst>
              <a:ext uri="{FF2B5EF4-FFF2-40B4-BE49-F238E27FC236}">
                <a16:creationId xmlns:a16="http://schemas.microsoft.com/office/drawing/2014/main" id="{E07C575E-00F8-1924-0CD0-7D32070A74E3}"/>
              </a:ext>
            </a:extLst>
          </p:cNvPr>
          <p:cNvPicPr>
            <a:picLocks noGrp="1" noChangeAspect="1"/>
          </p:cNvPicPr>
          <p:nvPr>
            <p:ph sz="half" idx="1"/>
          </p:nvPr>
        </p:nvPicPr>
        <p:blipFill>
          <a:blip r:embed="rId2"/>
          <a:stretch>
            <a:fillRect/>
          </a:stretch>
        </p:blipFill>
        <p:spPr>
          <a:xfrm>
            <a:off x="73436" y="999636"/>
            <a:ext cx="12045126" cy="3647519"/>
          </a:xfrm>
          <a:prstGeom prst="rect">
            <a:avLst/>
          </a:prstGeom>
        </p:spPr>
      </p:pic>
    </p:spTree>
    <p:extLst>
      <p:ext uri="{BB962C8B-B14F-4D97-AF65-F5344CB8AC3E}">
        <p14:creationId xmlns:p14="http://schemas.microsoft.com/office/powerpoint/2010/main" val="166055106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TotalTime>
  <Words>377</Words>
  <Application>Microsoft Office PowerPoint</Application>
  <PresentationFormat>Panorámica</PresentationFormat>
  <Paragraphs>30</Paragraphs>
  <Slides>6</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6</vt:i4>
      </vt:variant>
    </vt:vector>
  </HeadingPairs>
  <TitlesOfParts>
    <vt:vector size="12" baseType="lpstr">
      <vt:lpstr>Aptos</vt:lpstr>
      <vt:lpstr>Aptos Display</vt:lpstr>
      <vt:lpstr>Aptos Light</vt:lpstr>
      <vt:lpstr>Aptos Slab Light</vt:lpstr>
      <vt:lpstr>Arial</vt:lpstr>
      <vt:lpstr>Tema de Office</vt:lpstr>
      <vt:lpstr>El Titanic fue un accidente con tasa de mortalidad alta</vt:lpstr>
      <vt:lpstr>Mortalidad general</vt:lpstr>
      <vt:lpstr>Pero, ¿y la mortalidad de mujeres y niños?</vt:lpstr>
      <vt:lpstr>Clase de los pasajeros</vt:lpstr>
      <vt:lpstr>Mortalidad y ciudad de embarque</vt:lpstr>
      <vt:lpstr>Mortalidad y ciudad de embarque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 Salas</dc:creator>
  <cp:lastModifiedBy>Laura Salas</cp:lastModifiedBy>
  <cp:revision>5</cp:revision>
  <dcterms:created xsi:type="dcterms:W3CDTF">2026-02-11T16:19:48Z</dcterms:created>
  <dcterms:modified xsi:type="dcterms:W3CDTF">2026-02-13T20:02:04Z</dcterms:modified>
</cp:coreProperties>
</file>